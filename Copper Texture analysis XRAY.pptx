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447" r:id="rId2"/>
    <p:sldId id="464" r:id="rId3"/>
    <p:sldId id="450" r:id="rId4"/>
    <p:sldId id="453" r:id="rId5"/>
    <p:sldId id="451" r:id="rId6"/>
    <p:sldId id="452" r:id="rId7"/>
    <p:sldId id="454" r:id="rId8"/>
    <p:sldId id="455" r:id="rId9"/>
    <p:sldId id="456" r:id="rId10"/>
    <p:sldId id="457" r:id="rId11"/>
    <p:sldId id="458" r:id="rId12"/>
    <p:sldId id="461" r:id="rId13"/>
    <p:sldId id="463" r:id="rId14"/>
    <p:sldId id="45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77" autoAdjust="0"/>
    <p:restoredTop sz="94660"/>
  </p:normalViewPr>
  <p:slideViewPr>
    <p:cSldViewPr snapToGrid="0">
      <p:cViewPr varScale="1">
        <p:scale>
          <a:sx n="128" d="100"/>
          <a:sy n="128" d="100"/>
        </p:scale>
        <p:origin x="5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14562" name="Group 2"/>
          <p:cNvGrpSpPr>
            <a:grpSpLocks/>
          </p:cNvGrpSpPr>
          <p:nvPr/>
        </p:nvGrpSpPr>
        <p:grpSpPr bwMode="auto">
          <a:xfrm>
            <a:off x="0" y="1695450"/>
            <a:ext cx="12192000" cy="3486150"/>
            <a:chOff x="0" y="1068"/>
            <a:chExt cx="5760" cy="2196"/>
          </a:xfrm>
        </p:grpSpPr>
        <p:pic>
          <p:nvPicPr>
            <p:cNvPr id="5314563" name="Picture 3" descr="27"/>
            <p:cNvPicPr>
              <a:picLocks noChangeAspect="1" noChangeArrowheads="1"/>
            </p:cNvPicPr>
            <p:nvPr userDrawn="1"/>
          </p:nvPicPr>
          <p:blipFill>
            <a:blip r:embed="rId2" cstate="screen">
              <a:lum bright="60000" contrast="-6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0" y="1068"/>
              <a:ext cx="5754" cy="21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14564" name="Rectangle 4"/>
            <p:cNvSpPr>
              <a:spLocks noChangeArrowheads="1"/>
            </p:cNvSpPr>
            <p:nvPr/>
          </p:nvSpPr>
          <p:spPr bwMode="auto">
            <a:xfrm>
              <a:off x="0" y="1068"/>
              <a:ext cx="5760" cy="2182"/>
            </a:xfrm>
            <a:prstGeom prst="rect">
              <a:avLst/>
            </a:prstGeom>
            <a:gradFill rotWithShape="1">
              <a:gsLst>
                <a:gs pos="0">
                  <a:schemeClr val="bg1"/>
                </a:gs>
                <a:gs pos="100000">
                  <a:schemeClr val="bg1">
                    <a:alpha val="0"/>
                  </a:schemeClr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fontAlgn="base">
                <a:spcBef>
                  <a:spcPct val="50000"/>
                </a:spcBef>
                <a:spcAft>
                  <a:spcPct val="0"/>
                </a:spcAft>
                <a:buClr>
                  <a:srgbClr val="2DB6B3"/>
                </a:buClr>
                <a:buFont typeface="Wingdings" panose="05000000000000000000" pitchFamily="2" charset="2"/>
                <a:buNone/>
              </a:pPr>
              <a:endParaRPr lang="en-US" sz="2000">
                <a:solidFill>
                  <a:srgbClr val="000000"/>
                </a:solidFill>
              </a:endParaRPr>
            </a:p>
          </p:txBody>
        </p:sp>
      </p:grpSp>
      <p:pic>
        <p:nvPicPr>
          <p:cNvPr id="5314565" name="Picture 5" descr="27"/>
          <p:cNvPicPr>
            <a:picLocks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5168901"/>
            <a:ext cx="12192000" cy="16875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14566" name="Picture 6" descr="27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1689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14567" name="Picture 7" descr="ibm_white_logo_300dpi"/>
          <p:cNvPicPr>
            <a:picLocks noChangeAspect="1" noChangeArrowheads="1"/>
          </p:cNvPicPr>
          <p:nvPr/>
        </p:nvPicPr>
        <p:blipFill>
          <a:blip r:embed="rId5" cstate="screen">
            <a:clrChange>
              <a:clrFrom>
                <a:srgbClr val="7889FB"/>
              </a:clrFrom>
              <a:clrTo>
                <a:srgbClr val="7889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invGray">
          <a:xfrm>
            <a:off x="10033001" y="687388"/>
            <a:ext cx="1335617" cy="400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14568" name="Rectangle 8"/>
          <p:cNvSpPr>
            <a:spLocks noGrp="1" noChangeArrowheads="1"/>
          </p:cNvSpPr>
          <p:nvPr>
            <p:ph type="ctrTitle"/>
          </p:nvPr>
        </p:nvSpPr>
        <p:spPr>
          <a:xfrm>
            <a:off x="520701" y="2493964"/>
            <a:ext cx="10606617" cy="14700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5314569" name="Rectangle 9"/>
          <p:cNvSpPr>
            <a:spLocks noGrp="1" noChangeArrowheads="1"/>
          </p:cNvSpPr>
          <p:nvPr>
            <p:ph type="subTitle" idx="1"/>
          </p:nvPr>
        </p:nvSpPr>
        <p:spPr bwMode="black">
          <a:xfrm>
            <a:off x="2599267" y="4106863"/>
            <a:ext cx="8534400" cy="13843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5314570" name="Rectangle 10"/>
          <p:cNvSpPr>
            <a:spLocks noChangeArrowheads="1"/>
          </p:cNvSpPr>
          <p:nvPr/>
        </p:nvSpPr>
        <p:spPr bwMode="black">
          <a:xfrm>
            <a:off x="9766300" y="6270626"/>
            <a:ext cx="206586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44" tIns="45672" rIns="91344" bIns="45672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</a:rPr>
              <a:t>© 2015 IBM Corporation</a:t>
            </a:r>
          </a:p>
        </p:txBody>
      </p:sp>
    </p:spTree>
    <p:extLst>
      <p:ext uri="{BB962C8B-B14F-4D97-AF65-F5344CB8AC3E}">
        <p14:creationId xmlns:p14="http://schemas.microsoft.com/office/powerpoint/2010/main" val="21684717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A65958E-49E9-4390-9F05-3DA96DF6A967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45915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9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3FCBC6E-9817-430F-AB94-4D6B54DD1559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9165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3785" y="1776414"/>
            <a:ext cx="4796367" cy="3902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3351" y="1776414"/>
            <a:ext cx="4798483" cy="3902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E8A1E98-D3A3-41BB-9064-A6F15A20A75A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1267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6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8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8" y="2505075"/>
            <a:ext cx="5158316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03EC4A-B880-4A92-8FB2-1D190F2B87CE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07526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55574D3-82FF-4A50-B2E7-7BFA8B7E49F2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712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EAB6061-B405-454F-82EC-12B587DBC2E4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5645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B6EF501-8A00-483E-B603-193ECD0C85CD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026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8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6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8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B2796D5-8F42-44E0-8A34-E86C4435A7DF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1417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3F899848-D3E6-4CA7-84F9-DDC12AB0431D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5304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13233" y="871538"/>
            <a:ext cx="2768600" cy="48069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5318" y="871538"/>
            <a:ext cx="8104716" cy="48069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98EBB4-6658-43C2-812B-8BEE175728AD}" type="slidenum">
              <a:rPr lang="en-US" altLang="en-US">
                <a:solidFill>
                  <a:srgbClr val="FFFFFF"/>
                </a:solidFill>
              </a:rPr>
              <a:pPr/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83631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3538" name="Picture 2" descr="27"/>
          <p:cNvPicPr>
            <a:picLocks noChangeArrowheads="1"/>
          </p:cNvPicPr>
          <p:nvPr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6470651"/>
            <a:ext cx="12192000" cy="3857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13539" name="Picture 3" descr="27"/>
          <p:cNvPicPr>
            <a:picLocks noChangeAspect="1" noChangeArrowheads="1"/>
          </p:cNvPicPr>
          <p:nvPr/>
        </p:nvPicPr>
        <p:blipFill>
          <a:blip r:embed="rId1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384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313540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05318" y="871539"/>
            <a:ext cx="10993967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5313541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1483785" y="1776414"/>
            <a:ext cx="9798049" cy="3902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5313542" name="Rectangle 6"/>
          <p:cNvSpPr>
            <a:spLocks noGrp="1" noChangeArrowheads="1"/>
          </p:cNvSpPr>
          <p:nvPr>
            <p:ph type="sldNum" sz="quarter" idx="4"/>
          </p:nvPr>
        </p:nvSpPr>
        <p:spPr bwMode="black">
          <a:xfrm>
            <a:off x="205318" y="6502401"/>
            <a:ext cx="1341967" cy="320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344" tIns="45672" rIns="91344" bIns="45672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defRPr sz="1000" b="1">
                <a:solidFill>
                  <a:schemeClr val="bg1"/>
                </a:solidFill>
              </a:defRPr>
            </a:lvl1pPr>
          </a:lstStyle>
          <a:p>
            <a:pPr fontAlgn="base">
              <a:spcBef>
                <a:spcPct val="50000"/>
              </a:spcBef>
              <a:spcAft>
                <a:spcPct val="0"/>
              </a:spcAft>
            </a:pPr>
            <a:fld id="{8951160E-CB61-4211-8C66-BF0DCA1E845B}" type="slidenum">
              <a:rPr lang="en-US" altLang="en-US">
                <a:solidFill>
                  <a:srgbClr val="FFFFFF"/>
                </a:solidFill>
              </a:rPr>
              <a:pPr fontAlgn="base">
                <a:spcBef>
                  <a:spcPct val="50000"/>
                </a:spcBef>
                <a:spcAft>
                  <a:spcPct val="0"/>
                </a:spcAft>
              </a:pPr>
              <a:t>‹#›</a:t>
            </a:fld>
            <a:endParaRPr lang="en-US" altLang="en-US">
              <a:solidFill>
                <a:srgbClr val="FFFFFF"/>
              </a:solidFill>
            </a:endParaRPr>
          </a:p>
        </p:txBody>
      </p:sp>
      <p:sp>
        <p:nvSpPr>
          <p:cNvPr id="5313543" name="Text Box 7"/>
          <p:cNvSpPr txBox="1">
            <a:spLocks noChangeArrowheads="1"/>
          </p:cNvSpPr>
          <p:nvPr/>
        </p:nvSpPr>
        <p:spPr bwMode="black">
          <a:xfrm>
            <a:off x="1930401" y="52388"/>
            <a:ext cx="2718114" cy="3076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lIns="91344" tIns="45672" rIns="91344" bIns="45672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400">
                <a:solidFill>
                  <a:srgbClr val="FFFFFF"/>
                </a:solidFill>
              </a:rPr>
              <a:t>Systems and Technology Group</a:t>
            </a:r>
          </a:p>
        </p:txBody>
      </p:sp>
      <p:sp>
        <p:nvSpPr>
          <p:cNvPr id="5313544" name="Rectangle 8"/>
          <p:cNvSpPr>
            <a:spLocks noChangeArrowheads="1"/>
          </p:cNvSpPr>
          <p:nvPr/>
        </p:nvSpPr>
        <p:spPr bwMode="black">
          <a:xfrm>
            <a:off x="1930401" y="6502401"/>
            <a:ext cx="792056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44" tIns="45672" rIns="91344" bIns="45672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1000" dirty="0">
              <a:solidFill>
                <a:srgbClr val="FFFFFF"/>
              </a:solidFill>
            </a:endParaRPr>
          </a:p>
        </p:txBody>
      </p:sp>
      <p:sp>
        <p:nvSpPr>
          <p:cNvPr id="5313545" name="Rectangle 9"/>
          <p:cNvSpPr>
            <a:spLocks noChangeArrowheads="1"/>
          </p:cNvSpPr>
          <p:nvPr/>
        </p:nvSpPr>
        <p:spPr bwMode="black">
          <a:xfrm>
            <a:off x="7562851" y="6499226"/>
            <a:ext cx="4478867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1344" tIns="45672" rIns="91344" bIns="45672">
            <a:spAutoFit/>
          </a:bodyPr>
          <a:lstStyle/>
          <a:p>
            <a:pPr algn="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000" dirty="0">
                <a:solidFill>
                  <a:srgbClr val="FFFFFF"/>
                </a:solidFill>
              </a:rPr>
              <a:t>© 2016 IBM Corporation</a:t>
            </a:r>
          </a:p>
        </p:txBody>
      </p:sp>
      <p:pic>
        <p:nvPicPr>
          <p:cNvPr id="5313546" name="Picture 10" descr="ibm_light_gray_logo_300dpi"/>
          <p:cNvPicPr>
            <a:picLocks noChangeAspect="1" noChangeArrowheads="1"/>
          </p:cNvPicPr>
          <p:nvPr/>
        </p:nvPicPr>
        <p:blipFill>
          <a:blip r:embed="rId15" cstate="screen">
            <a:clrChange>
              <a:clrFrom>
                <a:srgbClr val="7889FB"/>
              </a:clrFrom>
              <a:clrTo>
                <a:srgbClr val="7889FB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invGray">
          <a:xfrm>
            <a:off x="11281834" y="61913"/>
            <a:ext cx="829733" cy="247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  <p:sp>
        <p:nvSpPr>
          <p:cNvPr id="5313547" name="Line 11"/>
          <p:cNvSpPr>
            <a:spLocks noChangeShapeType="1"/>
          </p:cNvSpPr>
          <p:nvPr/>
        </p:nvSpPr>
        <p:spPr bwMode="black">
          <a:xfrm>
            <a:off x="1930400" y="147638"/>
            <a:ext cx="0" cy="23495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2DB6B3"/>
              </a:buClr>
              <a:buFont typeface="Wingdings" panose="05000000000000000000" pitchFamily="2" charset="2"/>
              <a:buNone/>
            </a:pPr>
            <a:endParaRPr lang="en-US" sz="2000">
              <a:solidFill>
                <a:srgbClr val="000000"/>
              </a:solidFill>
            </a:endParaRPr>
          </a:p>
        </p:txBody>
      </p:sp>
      <p:sp>
        <p:nvSpPr>
          <p:cNvPr id="5313548" name="Line 12"/>
          <p:cNvSpPr>
            <a:spLocks noChangeShapeType="1"/>
          </p:cNvSpPr>
          <p:nvPr/>
        </p:nvSpPr>
        <p:spPr bwMode="black">
          <a:xfrm>
            <a:off x="1930400" y="6475414"/>
            <a:ext cx="0" cy="192087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fontAlgn="base">
              <a:spcBef>
                <a:spcPct val="50000"/>
              </a:spcBef>
              <a:spcAft>
                <a:spcPct val="0"/>
              </a:spcAft>
              <a:buClr>
                <a:srgbClr val="2DB6B3"/>
              </a:buClr>
              <a:buFont typeface="Wingdings" panose="05000000000000000000" pitchFamily="2" charset="2"/>
              <a:buNone/>
            </a:pPr>
            <a:endParaRPr lang="en-US" sz="20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37442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2800" kern="1200">
          <a:solidFill>
            <a:srgbClr val="0000FF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>
          <a:solidFill>
            <a:srgbClr val="0000FF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28600" indent="-228600" algn="l" rtl="0" fontAlgn="base">
        <a:spcBef>
          <a:spcPct val="25000"/>
        </a:spcBef>
        <a:spcAft>
          <a:spcPct val="20000"/>
        </a:spcAft>
        <a:buClrTx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50888" indent="-285750" algn="l" rtl="0" fontAlgn="base">
        <a:spcBef>
          <a:spcPct val="20000"/>
        </a:spcBef>
        <a:spcAft>
          <a:spcPct val="0"/>
        </a:spcAft>
        <a:buClrTx/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Tx/>
        <a:buFont typeface="Arial" panose="020B0604020202020204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15000"/>
        </a:spcBef>
        <a:spcAft>
          <a:spcPct val="0"/>
        </a:spcAft>
        <a:buClrTx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0"/>
        </a:spcBef>
        <a:spcAft>
          <a:spcPct val="0"/>
        </a:spcAft>
        <a:buClrTx/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>
            <a:extLst>
              <a:ext uri="{FF2B5EF4-FFF2-40B4-BE49-F238E27FC236}">
                <a16:creationId xmlns:a16="http://schemas.microsoft.com/office/drawing/2014/main" id="{C35110A7-EBD5-94F7-86C4-7A132174F0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53176" y="4124970"/>
            <a:ext cx="8534400" cy="1384300"/>
          </a:xfrm>
        </p:spPr>
        <p:txBody>
          <a:bodyPr/>
          <a:lstStyle/>
          <a:p>
            <a:r>
              <a:rPr lang="en-US" dirty="0"/>
              <a:t>EFK X-Ray Lab</a:t>
            </a:r>
          </a:p>
          <a:p>
            <a:r>
              <a:rPr lang="en-US" dirty="0"/>
              <a:t>T. Avbovbo,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4EB0E235-F0C8-41D2-F751-84556D960A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Copper texture XRD Analysis</a:t>
            </a:r>
            <a:br>
              <a:rPr lang="en-US" dirty="0"/>
            </a:br>
            <a:r>
              <a:rPr lang="en-US" dirty="0"/>
              <a:t>SG-00005</a:t>
            </a:r>
            <a:br>
              <a:rPr lang="en-US" sz="2000" dirty="0"/>
            </a:br>
            <a:r>
              <a:rPr lang="en-US" sz="2000" dirty="0"/>
              <a:t>6/7/23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3873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SG-00005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2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58D0B6-4631-0484-448C-FACFF23190E2}"/>
              </a:ext>
            </a:extLst>
          </p:cNvPr>
          <p:cNvSpPr txBox="1"/>
          <p:nvPr/>
        </p:nvSpPr>
        <p:spPr>
          <a:xfrm>
            <a:off x="205318" y="1951672"/>
            <a:ext cx="114254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wafer samples were tested to check for preferred Cu (111) orientation.</a:t>
            </a:r>
          </a:p>
          <a:p>
            <a:r>
              <a:rPr lang="en-US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46KDN139SJB3 – Shortened to SJB3 in the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46KDN140SJE4 – Shortened to SJE4 in the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46KDN145SJD5 – Shortened to SJD5 in the report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46KDN143SJC4 – Shortened to SJC4 in the report</a:t>
            </a:r>
          </a:p>
        </p:txBody>
      </p:sp>
    </p:spTree>
    <p:extLst>
      <p:ext uri="{BB962C8B-B14F-4D97-AF65-F5344CB8AC3E}">
        <p14:creationId xmlns:p14="http://schemas.microsoft.com/office/powerpoint/2010/main" val="37095503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43597" y="503759"/>
            <a:ext cx="5857593" cy="362049"/>
          </a:xfrm>
        </p:spPr>
        <p:txBody>
          <a:bodyPr/>
          <a:lstStyle/>
          <a:p>
            <a:r>
              <a:rPr lang="en-US" dirty="0"/>
              <a:t>Wafer ID: SJE4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E478-C518-4DCE-92AF-A481D55A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43938" y="1172092"/>
            <a:ext cx="3098897" cy="5056692"/>
          </a:xfrm>
        </p:spPr>
        <p:txBody>
          <a:bodyPr/>
          <a:lstStyle/>
          <a:p>
            <a:r>
              <a:rPr lang="en-US" dirty="0"/>
              <a:t>The Copper (111) planes have a preferred orientation with low intensity.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 The (200) planes are randomly oriented with similar intensities as the (111) set of planes.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3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E7BE41-F768-EEB9-A092-15C9A20519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041" y="1172092"/>
            <a:ext cx="4533957" cy="299250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DF5A192-D2F8-2F5B-DB81-0090041FFDE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4960" y="1172092"/>
            <a:ext cx="4452699" cy="299250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1D2D7B7-768B-743C-B816-3114B262B5A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9812" y="4760325"/>
            <a:ext cx="4447847" cy="169661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58F72A9-CABC-DE65-83DA-B15D0C3D7A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8041" y="4760326"/>
            <a:ext cx="4533959" cy="169661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55D1A37-F2DF-2A16-101C-3BCF3FD48C7A}"/>
              </a:ext>
            </a:extLst>
          </p:cNvPr>
          <p:cNvSpPr txBox="1"/>
          <p:nvPr/>
        </p:nvSpPr>
        <p:spPr>
          <a:xfrm>
            <a:off x="6764152" y="3827970"/>
            <a:ext cx="11135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D232B85-9AF0-4C2E-B235-9C31320461AD}"/>
              </a:ext>
            </a:extLst>
          </p:cNvPr>
          <p:cNvSpPr txBox="1"/>
          <p:nvPr/>
        </p:nvSpPr>
        <p:spPr>
          <a:xfrm>
            <a:off x="6764152" y="4727617"/>
            <a:ext cx="70290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E070F1D-454D-5A8C-4EBF-7AE7F10AF185}"/>
              </a:ext>
            </a:extLst>
          </p:cNvPr>
          <p:cNvSpPr txBox="1"/>
          <p:nvPr/>
        </p:nvSpPr>
        <p:spPr>
          <a:xfrm>
            <a:off x="11401897" y="4760325"/>
            <a:ext cx="8703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B07876F-66E3-03D4-1862-C8161D5C441C}"/>
              </a:ext>
            </a:extLst>
          </p:cNvPr>
          <p:cNvSpPr txBox="1"/>
          <p:nvPr/>
        </p:nvSpPr>
        <p:spPr>
          <a:xfrm>
            <a:off x="11401897" y="3795263"/>
            <a:ext cx="73152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</p:spTree>
    <p:extLst>
      <p:ext uri="{BB962C8B-B14F-4D97-AF65-F5344CB8AC3E}">
        <p14:creationId xmlns:p14="http://schemas.microsoft.com/office/powerpoint/2010/main" val="3127360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09038" y="454027"/>
            <a:ext cx="2915216" cy="498475"/>
          </a:xfrm>
        </p:spPr>
        <p:txBody>
          <a:bodyPr/>
          <a:lstStyle/>
          <a:p>
            <a:r>
              <a:rPr lang="en-US" dirty="0"/>
              <a:t>Wafer ID : SJD5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E478-C518-4DCE-92AF-A481D55A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1701" y="1255284"/>
            <a:ext cx="3162661" cy="5122327"/>
          </a:xfrm>
        </p:spPr>
        <p:txBody>
          <a:bodyPr/>
          <a:lstStyle/>
          <a:p>
            <a:r>
              <a:rPr lang="en-US" dirty="0"/>
              <a:t>The copper (111) planes have a preferred orientation with medium intensity.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r>
              <a:rPr lang="en-US" dirty="0"/>
              <a:t>The copper (200) planes have random orientation with low intensity.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4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BF4503-CCFD-D0C8-FAD2-B65B1FD16D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2690" y="1253747"/>
            <a:ext cx="4409310" cy="274248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4E36E40-EB68-6075-FF99-523EA4A4585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9149" y="1255284"/>
            <a:ext cx="4181233" cy="274248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9F7EAE9-7FA8-E0F4-9C23-0A7FC7688EA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5902" y="4612912"/>
            <a:ext cx="4184480" cy="161848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5DC980A-4EE5-71D9-6D0C-838B16BD8A7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782690" y="4612912"/>
            <a:ext cx="4409310" cy="16172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0DFF3BA6-5589-2046-80E3-C2369CD5A1DA}"/>
              </a:ext>
            </a:extLst>
          </p:cNvPr>
          <p:cNvSpPr txBox="1"/>
          <p:nvPr/>
        </p:nvSpPr>
        <p:spPr>
          <a:xfrm>
            <a:off x="6764089" y="3632209"/>
            <a:ext cx="89629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864A03-52FA-D22D-FF69-D6A25437E74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475901" y="4613629"/>
            <a:ext cx="4181233" cy="161848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7771295-9B5A-F1FB-8695-C18733A9295C}"/>
              </a:ext>
            </a:extLst>
          </p:cNvPr>
          <p:cNvSpPr txBox="1"/>
          <p:nvPr/>
        </p:nvSpPr>
        <p:spPr>
          <a:xfrm>
            <a:off x="6825092" y="4769219"/>
            <a:ext cx="99560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34AC4C9-4F9F-EA0D-E8FE-87E0DF1B4880}"/>
              </a:ext>
            </a:extLst>
          </p:cNvPr>
          <p:cNvSpPr txBox="1"/>
          <p:nvPr/>
        </p:nvSpPr>
        <p:spPr>
          <a:xfrm>
            <a:off x="11477558" y="3626899"/>
            <a:ext cx="85220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0DB3980-B4A7-D861-A95A-FCDF807074C9}"/>
              </a:ext>
            </a:extLst>
          </p:cNvPr>
          <p:cNvSpPr txBox="1"/>
          <p:nvPr/>
        </p:nvSpPr>
        <p:spPr>
          <a:xfrm>
            <a:off x="11477558" y="4681755"/>
            <a:ext cx="10769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</p:spTree>
    <p:extLst>
      <p:ext uri="{BB962C8B-B14F-4D97-AF65-F5344CB8AC3E}">
        <p14:creationId xmlns:p14="http://schemas.microsoft.com/office/powerpoint/2010/main" val="319571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34804" y="390653"/>
            <a:ext cx="3133481" cy="498475"/>
          </a:xfrm>
        </p:spPr>
        <p:txBody>
          <a:bodyPr/>
          <a:lstStyle/>
          <a:p>
            <a:r>
              <a:rPr lang="en-US" dirty="0"/>
              <a:t>Wafer ID: SJB3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E478-C518-4DCE-92AF-A481D55A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026272"/>
            <a:ext cx="2753236" cy="5172268"/>
          </a:xfrm>
        </p:spPr>
        <p:txBody>
          <a:bodyPr/>
          <a:lstStyle/>
          <a:p>
            <a:r>
              <a:rPr lang="en-US" dirty="0"/>
              <a:t>The copper (111) planes have a preferred orientation with high intensity.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The copper (200) planes have preferred orientation not parallel to the surface of the sample and low intensity.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5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9DE0CB9-1D8E-83F5-E63E-B58078681E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69085" y="1153692"/>
            <a:ext cx="4311923" cy="279032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9B41944-06EA-07C0-3169-32D8C7CDFB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3173" y="1156624"/>
            <a:ext cx="4325112" cy="278739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C00889-414B-5106-A275-6E7F1F34DF9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43173" y="4633220"/>
            <a:ext cx="4325112" cy="15653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B31001E-413A-E4DA-BBB4-41793AECE6A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689" y="4633220"/>
            <a:ext cx="4311922" cy="156532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42AD76-4D33-2B29-2DB1-36217E5F3E47}"/>
              </a:ext>
            </a:extLst>
          </p:cNvPr>
          <p:cNvSpPr txBox="1"/>
          <p:nvPr/>
        </p:nvSpPr>
        <p:spPr>
          <a:xfrm>
            <a:off x="6907990" y="3574684"/>
            <a:ext cx="693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06DC2F-E3BD-E959-4908-D0AF1425A84B}"/>
              </a:ext>
            </a:extLst>
          </p:cNvPr>
          <p:cNvSpPr txBox="1"/>
          <p:nvPr/>
        </p:nvSpPr>
        <p:spPr>
          <a:xfrm>
            <a:off x="6907990" y="4702928"/>
            <a:ext cx="7252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29A584-B638-3524-68E3-138244531CE4}"/>
              </a:ext>
            </a:extLst>
          </p:cNvPr>
          <p:cNvSpPr txBox="1"/>
          <p:nvPr/>
        </p:nvSpPr>
        <p:spPr>
          <a:xfrm>
            <a:off x="11384090" y="3574684"/>
            <a:ext cx="7257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A129EA9-A0EC-E691-842A-8F155C0DAD5A}"/>
              </a:ext>
            </a:extLst>
          </p:cNvPr>
          <p:cNvSpPr txBox="1"/>
          <p:nvPr/>
        </p:nvSpPr>
        <p:spPr>
          <a:xfrm>
            <a:off x="11384090" y="4702928"/>
            <a:ext cx="1163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</p:spTree>
    <p:extLst>
      <p:ext uri="{BB962C8B-B14F-4D97-AF65-F5344CB8AC3E}">
        <p14:creationId xmlns:p14="http://schemas.microsoft.com/office/powerpoint/2010/main" val="36545327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9694" y="410464"/>
            <a:ext cx="5948275" cy="498475"/>
          </a:xfrm>
        </p:spPr>
        <p:txBody>
          <a:bodyPr/>
          <a:lstStyle/>
          <a:p>
            <a:r>
              <a:rPr lang="en-US" dirty="0"/>
              <a:t>Wafer ID :SJC4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C6E478-C518-4DCE-92AF-A481D55AEE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13" y="1252648"/>
            <a:ext cx="2780396" cy="4962376"/>
          </a:xfrm>
        </p:spPr>
        <p:txBody>
          <a:bodyPr/>
          <a:lstStyle/>
          <a:p>
            <a:r>
              <a:rPr lang="en-US" dirty="0"/>
              <a:t>The copper (111) planes have a preferred orientation with high intensity.</a:t>
            </a:r>
          </a:p>
          <a:p>
            <a:endParaRPr lang="en-US" dirty="0"/>
          </a:p>
          <a:p>
            <a:r>
              <a:rPr lang="en-US" dirty="0"/>
              <a:t>The copper (200) planes have preferred orientation not parallel to the surface of the sample and low intensity.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6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D67EE1-C110-F995-FF4A-F257738CBC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9508" y="1252649"/>
            <a:ext cx="4102492" cy="27308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2B3956C-1B10-1B11-9EF1-9AA6BF7B7BB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4978" y="1252648"/>
            <a:ext cx="4389863" cy="27308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A6C309D-78AD-A6D0-B951-3D5F3D2E3A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604978" y="4706482"/>
            <a:ext cx="4389863" cy="150854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168D64B-05DC-D9CD-4EFF-D058E45B71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089508" y="4706482"/>
            <a:ext cx="4102492" cy="149181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3FF20F6-E8D3-3C97-4B0F-38BDFC351742}"/>
              </a:ext>
            </a:extLst>
          </p:cNvPr>
          <p:cNvSpPr txBox="1"/>
          <p:nvPr/>
        </p:nvSpPr>
        <p:spPr>
          <a:xfrm>
            <a:off x="7124883" y="3573774"/>
            <a:ext cx="7975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8E7B0F-D6AF-5D4A-EDCA-DC651DFE5237}"/>
              </a:ext>
            </a:extLst>
          </p:cNvPr>
          <p:cNvSpPr txBox="1"/>
          <p:nvPr/>
        </p:nvSpPr>
        <p:spPr>
          <a:xfrm>
            <a:off x="7197311" y="4799689"/>
            <a:ext cx="81350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(111)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FD5630C-07EC-D002-9067-7924C934B387}"/>
              </a:ext>
            </a:extLst>
          </p:cNvPr>
          <p:cNvSpPr txBox="1"/>
          <p:nvPr/>
        </p:nvSpPr>
        <p:spPr>
          <a:xfrm>
            <a:off x="11402196" y="3567811"/>
            <a:ext cx="6292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F742C0-9AC6-1977-2849-B2757E4044D4}"/>
              </a:ext>
            </a:extLst>
          </p:cNvPr>
          <p:cNvSpPr txBox="1"/>
          <p:nvPr/>
        </p:nvSpPr>
        <p:spPr>
          <a:xfrm>
            <a:off x="11402196" y="4799689"/>
            <a:ext cx="62921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(200)</a:t>
            </a:r>
          </a:p>
        </p:txBody>
      </p:sp>
    </p:spTree>
    <p:extLst>
      <p:ext uri="{BB962C8B-B14F-4D97-AF65-F5344CB8AC3E}">
        <p14:creationId xmlns:p14="http://schemas.microsoft.com/office/powerpoint/2010/main" val="2175145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22997" y="382652"/>
            <a:ext cx="5679434" cy="498475"/>
          </a:xfrm>
        </p:spPr>
        <p:txBody>
          <a:bodyPr/>
          <a:lstStyle/>
          <a:p>
            <a:r>
              <a:rPr lang="en-US" dirty="0"/>
              <a:t>SJB3 V SJD5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7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Content Placeholder 32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3E7DFDBC-9BE7-09CE-9AE7-ABEE79B59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245" y="938428"/>
            <a:ext cx="4553964" cy="2842777"/>
          </a:xfrm>
        </p:spPr>
      </p:pic>
      <p:pic>
        <p:nvPicPr>
          <p:cNvPr id="6" name="Picture 5" descr="A picture containing text, diagram, plot, line&#10;&#10;Description automatically generated">
            <a:extLst>
              <a:ext uri="{FF2B5EF4-FFF2-40B4-BE49-F238E27FC236}">
                <a16:creationId xmlns:a16="http://schemas.microsoft.com/office/drawing/2014/main" id="{FCC9B775-DAE0-CEB4-4487-BFDD108B3C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8245" y="3838507"/>
            <a:ext cx="4553964" cy="26368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85FFDF-1FD6-08CD-488F-9222F99F567A}"/>
              </a:ext>
            </a:extLst>
          </p:cNvPr>
          <p:cNvSpPr txBox="1"/>
          <p:nvPr/>
        </p:nvSpPr>
        <p:spPr>
          <a:xfrm>
            <a:off x="316164" y="938428"/>
            <a:ext cx="42033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(111)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is 5 times greater than that of </a:t>
            </a:r>
            <a:r>
              <a:rPr lang="en-US" dirty="0">
                <a:solidFill>
                  <a:srgbClr val="FF0000"/>
                </a:solidFill>
              </a:rPr>
              <a:t>SJD5</a:t>
            </a:r>
            <a:r>
              <a:rPr lang="en-US" dirty="0"/>
              <a:t> (more (111)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sample).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(200)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is 5 times greater than that of </a:t>
            </a:r>
            <a:r>
              <a:rPr lang="en-US" dirty="0">
                <a:solidFill>
                  <a:srgbClr val="FF0000"/>
                </a:solidFill>
              </a:rPr>
              <a:t>SJD5</a:t>
            </a:r>
            <a:r>
              <a:rPr lang="en-US" dirty="0"/>
              <a:t> (more (200)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sample).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1BAC06-EED1-B12A-CD32-4759C066FE9D}"/>
              </a:ext>
            </a:extLst>
          </p:cNvPr>
          <p:cNvSpPr txBox="1"/>
          <p:nvPr/>
        </p:nvSpPr>
        <p:spPr>
          <a:xfrm>
            <a:off x="10257183" y="2144373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SJB3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SJD5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7D0E07-C4E5-483D-B569-27E18B2D153C}"/>
              </a:ext>
            </a:extLst>
          </p:cNvPr>
          <p:cNvSpPr txBox="1"/>
          <p:nvPr/>
        </p:nvSpPr>
        <p:spPr>
          <a:xfrm>
            <a:off x="10257183" y="5161409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SJB3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SJD5</a:t>
            </a:r>
          </a:p>
        </p:txBody>
      </p:sp>
    </p:spTree>
    <p:extLst>
      <p:ext uri="{BB962C8B-B14F-4D97-AF65-F5344CB8AC3E}">
        <p14:creationId xmlns:p14="http://schemas.microsoft.com/office/powerpoint/2010/main" val="10562010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159" y="400759"/>
            <a:ext cx="7251974" cy="498475"/>
          </a:xfrm>
        </p:spPr>
        <p:txBody>
          <a:bodyPr/>
          <a:lstStyle/>
          <a:p>
            <a:r>
              <a:rPr lang="en-US" dirty="0"/>
              <a:t>SJC4 V SJD5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8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A picture containing text, plot, diagram, line&#10;&#10;Description automatically generated">
            <a:extLst>
              <a:ext uri="{FF2B5EF4-FFF2-40B4-BE49-F238E27FC236}">
                <a16:creationId xmlns:a16="http://schemas.microsoft.com/office/drawing/2014/main" id="{E0DCE84D-D40B-B3BE-4FE7-B736F4217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447" y="3947311"/>
            <a:ext cx="4540913" cy="2509930"/>
          </a:xfrm>
          <a:prstGeom prst="rect">
            <a:avLst/>
          </a:prstGeom>
        </p:spPr>
      </p:pic>
      <p:pic>
        <p:nvPicPr>
          <p:cNvPr id="6" name="Picture 5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808B5E48-9CE0-9FE0-117F-80D0645372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7447" y="899234"/>
            <a:ext cx="4540914" cy="2849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22EDBE1-8D1F-2E17-0EE2-DE38796A443D}"/>
              </a:ext>
            </a:extLst>
          </p:cNvPr>
          <p:cNvSpPr txBox="1"/>
          <p:nvPr/>
        </p:nvSpPr>
        <p:spPr>
          <a:xfrm>
            <a:off x="205318" y="899234"/>
            <a:ext cx="420332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(111)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is 5 times greater than that of </a:t>
            </a:r>
            <a:r>
              <a:rPr lang="en-US" dirty="0">
                <a:solidFill>
                  <a:srgbClr val="FF0000"/>
                </a:solidFill>
              </a:rPr>
              <a:t>SJD5</a:t>
            </a:r>
            <a:r>
              <a:rPr lang="en-US" dirty="0"/>
              <a:t>(more (111)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sample).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(200)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is 5 times greater than that of </a:t>
            </a:r>
            <a:r>
              <a:rPr lang="en-US" dirty="0">
                <a:solidFill>
                  <a:srgbClr val="FF0000"/>
                </a:solidFill>
              </a:rPr>
              <a:t>SJD5</a:t>
            </a:r>
            <a:r>
              <a:rPr lang="en-US" dirty="0"/>
              <a:t> (more (200)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sample).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0F4777-DCA9-D21E-9865-7488E5E18D58}"/>
              </a:ext>
            </a:extLst>
          </p:cNvPr>
          <p:cNvSpPr txBox="1"/>
          <p:nvPr/>
        </p:nvSpPr>
        <p:spPr>
          <a:xfrm>
            <a:off x="10257183" y="2144373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SJC4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SJD5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390394-F1FB-D901-98D9-C3CE9ABBBFEB}"/>
              </a:ext>
            </a:extLst>
          </p:cNvPr>
          <p:cNvSpPr txBox="1"/>
          <p:nvPr/>
        </p:nvSpPr>
        <p:spPr>
          <a:xfrm>
            <a:off x="10257183" y="4986832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SJC4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SJD5</a:t>
            </a:r>
          </a:p>
        </p:txBody>
      </p:sp>
    </p:spTree>
    <p:extLst>
      <p:ext uri="{BB962C8B-B14F-4D97-AF65-F5344CB8AC3E}">
        <p14:creationId xmlns:p14="http://schemas.microsoft.com/office/powerpoint/2010/main" val="7219245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99161" y="454027"/>
            <a:ext cx="4237022" cy="498475"/>
          </a:xfrm>
        </p:spPr>
        <p:txBody>
          <a:bodyPr/>
          <a:lstStyle/>
          <a:p>
            <a:r>
              <a:rPr lang="en-US" dirty="0"/>
              <a:t>SJB3 V SJE4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9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A picture containing text, plot, diagram, line&#10;&#10;Description automatically generated">
            <a:extLst>
              <a:ext uri="{FF2B5EF4-FFF2-40B4-BE49-F238E27FC236}">
                <a16:creationId xmlns:a16="http://schemas.microsoft.com/office/drawing/2014/main" id="{1EC10B2D-FB29-CB52-B551-139FF83DB6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808" y="1021323"/>
            <a:ext cx="4460341" cy="2809878"/>
          </a:xfrm>
          <a:prstGeom prst="rect">
            <a:avLst/>
          </a:prstGeom>
        </p:spPr>
      </p:pic>
      <p:pic>
        <p:nvPicPr>
          <p:cNvPr id="6" name="Picture 5" descr="A picture containing text, plot, line, diagram&#10;&#10;Description automatically generated">
            <a:extLst>
              <a:ext uri="{FF2B5EF4-FFF2-40B4-BE49-F238E27FC236}">
                <a16:creationId xmlns:a16="http://schemas.microsoft.com/office/drawing/2014/main" id="{8DA31A3D-C9CB-D866-A011-4FB835D8ED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4808" y="3900022"/>
            <a:ext cx="4357779" cy="256665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3DECEC7-417C-9D38-31B9-3EE184282C39}"/>
              </a:ext>
            </a:extLst>
          </p:cNvPr>
          <p:cNvSpPr txBox="1"/>
          <p:nvPr/>
        </p:nvSpPr>
        <p:spPr>
          <a:xfrm>
            <a:off x="362179" y="1083867"/>
            <a:ext cx="42033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(111)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is 3 times greater than that of </a:t>
            </a:r>
            <a:r>
              <a:rPr lang="en-US" dirty="0">
                <a:solidFill>
                  <a:srgbClr val="FF0000"/>
                </a:solidFill>
              </a:rPr>
              <a:t>SJE4</a:t>
            </a:r>
            <a:r>
              <a:rPr lang="en-US" dirty="0"/>
              <a:t> (more (111) 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sample).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(200)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is 3 times greater than that of </a:t>
            </a:r>
            <a:r>
              <a:rPr lang="en-US" dirty="0">
                <a:solidFill>
                  <a:srgbClr val="FF0000"/>
                </a:solidFill>
              </a:rPr>
              <a:t>SJE4</a:t>
            </a:r>
            <a:r>
              <a:rPr lang="en-US" dirty="0"/>
              <a:t> (more (200)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sample).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2F8F5EC-8042-24D9-08EB-DB0FAB30576C}"/>
              </a:ext>
            </a:extLst>
          </p:cNvPr>
          <p:cNvSpPr txBox="1"/>
          <p:nvPr/>
        </p:nvSpPr>
        <p:spPr>
          <a:xfrm>
            <a:off x="10257183" y="2144373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SJB3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SJE4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C178B08-A93E-3251-0E2E-AFB659CFACE5}"/>
              </a:ext>
            </a:extLst>
          </p:cNvPr>
          <p:cNvSpPr txBox="1"/>
          <p:nvPr/>
        </p:nvSpPr>
        <p:spPr>
          <a:xfrm>
            <a:off x="10257183" y="5183350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SJB3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SJE4</a:t>
            </a:r>
          </a:p>
        </p:txBody>
      </p:sp>
    </p:spTree>
    <p:extLst>
      <p:ext uri="{BB962C8B-B14F-4D97-AF65-F5344CB8AC3E}">
        <p14:creationId xmlns:p14="http://schemas.microsoft.com/office/powerpoint/2010/main" val="23924798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4768" y="427919"/>
            <a:ext cx="10993967" cy="498475"/>
          </a:xfrm>
        </p:spPr>
        <p:txBody>
          <a:bodyPr/>
          <a:lstStyle/>
          <a:p>
            <a:r>
              <a:rPr lang="en-US" dirty="0"/>
              <a:t>SJC4 V SJE4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10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A picture containing text, screenshot, line, plot&#10;&#10;Description automatically generated">
            <a:extLst>
              <a:ext uri="{FF2B5EF4-FFF2-40B4-BE49-F238E27FC236}">
                <a16:creationId xmlns:a16="http://schemas.microsoft.com/office/drawing/2014/main" id="{394A4717-3AED-71B6-5AD6-27248B2062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609" y="926394"/>
            <a:ext cx="4908969" cy="2725752"/>
          </a:xfrm>
          <a:prstGeom prst="rect">
            <a:avLst/>
          </a:prstGeom>
        </p:spPr>
      </p:pic>
      <p:pic>
        <p:nvPicPr>
          <p:cNvPr id="6" name="Picture 5" descr="A picture containing text, plot, line, diagram&#10;&#10;Description automatically generated">
            <a:extLst>
              <a:ext uri="{FF2B5EF4-FFF2-40B4-BE49-F238E27FC236}">
                <a16:creationId xmlns:a16="http://schemas.microsoft.com/office/drawing/2014/main" id="{636E965E-92F1-5F2C-2F46-EFAD9BE9B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3609" y="3704329"/>
            <a:ext cx="4612812" cy="27257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139DECD-D88E-1442-7E15-4CFF99B2D820}"/>
              </a:ext>
            </a:extLst>
          </p:cNvPr>
          <p:cNvSpPr txBox="1"/>
          <p:nvPr/>
        </p:nvSpPr>
        <p:spPr>
          <a:xfrm>
            <a:off x="317574" y="1039262"/>
            <a:ext cx="420332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(111)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is 3 times greater than that of </a:t>
            </a:r>
            <a:r>
              <a:rPr lang="en-US" dirty="0">
                <a:solidFill>
                  <a:srgbClr val="FF0000"/>
                </a:solidFill>
              </a:rPr>
              <a:t>SJE4</a:t>
            </a:r>
            <a:r>
              <a:rPr lang="en-US" dirty="0"/>
              <a:t> (more (111)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sample).</a:t>
            </a:r>
            <a:endParaRPr lang="en-US" dirty="0">
              <a:solidFill>
                <a:srgbClr val="FF0000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(200)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is 3 times greater than that of </a:t>
            </a:r>
            <a:r>
              <a:rPr lang="en-US" dirty="0">
                <a:solidFill>
                  <a:srgbClr val="FF0000"/>
                </a:solidFill>
              </a:rPr>
              <a:t>SJE4</a:t>
            </a:r>
            <a:r>
              <a:rPr lang="en-US" dirty="0"/>
              <a:t> (more (200)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SJC4</a:t>
            </a:r>
            <a:r>
              <a:rPr lang="en-US" dirty="0"/>
              <a:t> sample).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59D61F-04B5-37DE-8B31-78F2A9682510}"/>
              </a:ext>
            </a:extLst>
          </p:cNvPr>
          <p:cNvSpPr txBox="1"/>
          <p:nvPr/>
        </p:nvSpPr>
        <p:spPr>
          <a:xfrm>
            <a:off x="10257183" y="2144373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SJC4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SJE4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41A160-8E69-63C2-A73B-736B871BF92A}"/>
              </a:ext>
            </a:extLst>
          </p:cNvPr>
          <p:cNvSpPr txBox="1"/>
          <p:nvPr/>
        </p:nvSpPr>
        <p:spPr>
          <a:xfrm>
            <a:off x="10257183" y="4870125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SJC4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SJE4</a:t>
            </a:r>
          </a:p>
        </p:txBody>
      </p:sp>
    </p:spTree>
    <p:extLst>
      <p:ext uri="{BB962C8B-B14F-4D97-AF65-F5344CB8AC3E}">
        <p14:creationId xmlns:p14="http://schemas.microsoft.com/office/powerpoint/2010/main" val="23450020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8748" y="457283"/>
            <a:ext cx="3715909" cy="498475"/>
          </a:xfrm>
        </p:spPr>
        <p:txBody>
          <a:bodyPr/>
          <a:lstStyle/>
          <a:p>
            <a:r>
              <a:rPr lang="en-US" dirty="0"/>
              <a:t>Lotgering Factor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11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:a16="http://schemas.microsoft.com/office/drawing/2014/main" id="{163A2AE0-34DF-D51A-B3EE-6A683AF9D0D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2515248"/>
              </p:ext>
            </p:extLst>
          </p:nvPr>
        </p:nvGraphicFramePr>
        <p:xfrm>
          <a:off x="6345142" y="1385844"/>
          <a:ext cx="4696150" cy="3129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148">
                  <a:extLst>
                    <a:ext uri="{9D8B030D-6E8A-4147-A177-3AD203B41FA5}">
                      <a16:colId xmlns:a16="http://schemas.microsoft.com/office/drawing/2014/main" val="397857795"/>
                    </a:ext>
                  </a:extLst>
                </a:gridCol>
                <a:gridCol w="2631002">
                  <a:extLst>
                    <a:ext uri="{9D8B030D-6E8A-4147-A177-3AD203B41FA5}">
                      <a16:colId xmlns:a16="http://schemas.microsoft.com/office/drawing/2014/main" val="3221008884"/>
                    </a:ext>
                  </a:extLst>
                </a:gridCol>
              </a:tblGrid>
              <a:tr h="625888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u="none" strike="noStrike" dirty="0">
                          <a:effectLst/>
                        </a:rPr>
                        <a:t>Wafer ID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3300" u="none" strike="noStrike" dirty="0">
                          <a:effectLst/>
                        </a:rPr>
                        <a:t>LF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extLst>
                  <a:ext uri="{0D108BD9-81ED-4DB2-BD59-A6C34878D82A}">
                    <a16:rowId xmlns:a16="http://schemas.microsoft.com/office/drawing/2014/main" val="3139391335"/>
                  </a:ext>
                </a:extLst>
              </a:tr>
              <a:tr h="625888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u="none" strike="noStrike" dirty="0">
                          <a:effectLst/>
                        </a:rPr>
                        <a:t>SJE4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300" u="none" strike="noStrike" dirty="0">
                          <a:effectLst/>
                        </a:rPr>
                        <a:t>0.81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extLst>
                  <a:ext uri="{0D108BD9-81ED-4DB2-BD59-A6C34878D82A}">
                    <a16:rowId xmlns:a16="http://schemas.microsoft.com/office/drawing/2014/main" val="141902417"/>
                  </a:ext>
                </a:extLst>
              </a:tr>
              <a:tr h="625888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u="none" strike="noStrike" dirty="0">
                          <a:effectLst/>
                        </a:rPr>
                        <a:t>SJD5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300" u="none" strike="noStrike" dirty="0">
                          <a:effectLst/>
                        </a:rPr>
                        <a:t>0.63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extLst>
                  <a:ext uri="{0D108BD9-81ED-4DB2-BD59-A6C34878D82A}">
                    <a16:rowId xmlns:a16="http://schemas.microsoft.com/office/drawing/2014/main" val="1979134070"/>
                  </a:ext>
                </a:extLst>
              </a:tr>
              <a:tr h="625888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u="none" strike="noStrike" dirty="0">
                          <a:effectLst/>
                        </a:rPr>
                        <a:t>SJC4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300" u="none" strike="noStrike" dirty="0">
                          <a:effectLst/>
                        </a:rPr>
                        <a:t>0.93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extLst>
                  <a:ext uri="{0D108BD9-81ED-4DB2-BD59-A6C34878D82A}">
                    <a16:rowId xmlns:a16="http://schemas.microsoft.com/office/drawing/2014/main" val="2095483105"/>
                  </a:ext>
                </a:extLst>
              </a:tr>
              <a:tr h="625888">
                <a:tc>
                  <a:txBody>
                    <a:bodyPr/>
                    <a:lstStyle/>
                    <a:p>
                      <a:pPr algn="l" fontAlgn="b"/>
                      <a:r>
                        <a:rPr lang="en-US" sz="3300" u="none" strike="noStrike">
                          <a:effectLst/>
                        </a:rPr>
                        <a:t>SJB3</a:t>
                      </a:r>
                      <a:endParaRPr lang="en-US" sz="33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3300" u="none" strike="noStrike" dirty="0">
                          <a:effectLst/>
                        </a:rPr>
                        <a:t>0.87</a:t>
                      </a:r>
                      <a:endParaRPr lang="en-US" sz="33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194" marR="26194" marT="26194" marB="0" anchor="b"/>
                </a:tc>
                <a:extLst>
                  <a:ext uri="{0D108BD9-81ED-4DB2-BD59-A6C34878D82A}">
                    <a16:rowId xmlns:a16="http://schemas.microsoft.com/office/drawing/2014/main" val="3284049598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7554A8-84A3-23B9-67E1-1DBDF2C3AC0E}"/>
                  </a:ext>
                </a:extLst>
              </p:cNvPr>
              <p:cNvSpPr txBox="1"/>
              <p:nvPr/>
            </p:nvSpPr>
            <p:spPr>
              <a:xfrm>
                <a:off x="341906" y="1385844"/>
                <a:ext cx="4216842" cy="63023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Lotgering Factor(LF) is a representation of orientation degree using XRD peaks.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LF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b="0" i="1" baseline="-25000" smtClean="0"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i="1" baseline="-2500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P: Fraction of the summation of peak intensities corresponding to preferred orientation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b="0" i="1" baseline="-2500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dirty="0"/>
                  <a:t>: P with random distribution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LF =1 perfect preferred orientation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LF =0 random orientation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r>
                  <a:rPr lang="en-US" dirty="0"/>
                  <a:t>                                                           [1]</a:t>
                </a:r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177554A8-84A3-23B9-67E1-1DBDF2C3AC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1906" y="1385844"/>
                <a:ext cx="4216842" cy="6302303"/>
              </a:xfrm>
              <a:prstGeom prst="rect">
                <a:avLst/>
              </a:prstGeom>
              <a:blipFill>
                <a:blip r:embed="rId2"/>
                <a:stretch>
                  <a:fillRect l="-599" t="-201" r="-2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Frame 6">
            <a:extLst>
              <a:ext uri="{FF2B5EF4-FFF2-40B4-BE49-F238E27FC236}">
                <a16:creationId xmlns:a16="http://schemas.microsoft.com/office/drawing/2014/main" id="{1F9CAD47-0F46-19C8-378F-D05A695589A5}"/>
              </a:ext>
            </a:extLst>
          </p:cNvPr>
          <p:cNvSpPr/>
          <p:nvPr/>
        </p:nvSpPr>
        <p:spPr bwMode="auto">
          <a:xfrm>
            <a:off x="6345141" y="3267985"/>
            <a:ext cx="4696149" cy="628153"/>
          </a:xfrm>
          <a:prstGeom prst="frame">
            <a:avLst>
              <a:gd name="adj1" fmla="val 2951"/>
            </a:avLst>
          </a:prstGeom>
          <a:solidFill>
            <a:schemeClr val="accent1"/>
          </a:solidFill>
          <a:ln w="127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>
                <a:schemeClr val="accent2"/>
              </a:buClr>
              <a:buSzTx/>
              <a:buFont typeface="Wingdings" panose="05000000000000000000" pitchFamily="2" charset="2"/>
              <a:buNone/>
              <a:tabLst/>
            </a:pPr>
            <a:endParaRPr kumimoji="0" 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42FC14-854A-C676-AEF4-60E444A30180}"/>
              </a:ext>
            </a:extLst>
          </p:cNvPr>
          <p:cNvSpPr txBox="1"/>
          <p:nvPr/>
        </p:nvSpPr>
        <p:spPr>
          <a:xfrm>
            <a:off x="6345141" y="5131948"/>
            <a:ext cx="46961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Wafer ID SJC4 has the highest degree of preferred orientation((111) plane)</a:t>
            </a:r>
          </a:p>
        </p:txBody>
      </p:sp>
    </p:spTree>
    <p:extLst>
      <p:ext uri="{BB962C8B-B14F-4D97-AF65-F5344CB8AC3E}">
        <p14:creationId xmlns:p14="http://schemas.microsoft.com/office/powerpoint/2010/main" val="3291857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Future Work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12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4BD0ED-39F6-C7B2-0550-A3B0B8183F77}"/>
              </a:ext>
            </a:extLst>
          </p:cNvPr>
          <p:cNvSpPr txBox="1"/>
          <p:nvPr/>
        </p:nvSpPr>
        <p:spPr>
          <a:xfrm>
            <a:off x="205318" y="1694985"/>
            <a:ext cx="108232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Use Bruker XRD to calculate volume fraction of Cu (111) planes </a:t>
            </a:r>
          </a:p>
        </p:txBody>
      </p:sp>
    </p:spTree>
    <p:extLst>
      <p:ext uri="{BB962C8B-B14F-4D97-AF65-F5344CB8AC3E}">
        <p14:creationId xmlns:p14="http://schemas.microsoft.com/office/powerpoint/2010/main" val="26679575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3D719-45F5-4E31-9B11-C7D3D27AC3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1718" y="454027"/>
            <a:ext cx="2949942" cy="498475"/>
          </a:xfrm>
        </p:spPr>
        <p:txBody>
          <a:bodyPr/>
          <a:lstStyle/>
          <a:p>
            <a:r>
              <a:rPr lang="en-US" dirty="0"/>
              <a:t>SJC4 V SJB3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13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Picture 4" descr="A picture containing text, plot, line, diagram&#10;&#10;Description automatically generated">
            <a:extLst>
              <a:ext uri="{FF2B5EF4-FFF2-40B4-BE49-F238E27FC236}">
                <a16:creationId xmlns:a16="http://schemas.microsoft.com/office/drawing/2014/main" id="{07FD6560-E8E6-DEC0-7B03-8337E80B0D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6242" y="1649468"/>
            <a:ext cx="5829595" cy="36920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3614217-6F3B-9816-A7D2-8F38E3C909D0}"/>
              </a:ext>
            </a:extLst>
          </p:cNvPr>
          <p:cNvSpPr txBox="1"/>
          <p:nvPr/>
        </p:nvSpPr>
        <p:spPr>
          <a:xfrm>
            <a:off x="446163" y="1649468"/>
            <a:ext cx="420332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intensity of the (222) set of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is 3 times greater than that of </a:t>
            </a:r>
            <a:r>
              <a:rPr lang="en-US" dirty="0">
                <a:solidFill>
                  <a:srgbClr val="FF0000"/>
                </a:solidFill>
              </a:rPr>
              <a:t>SJC4</a:t>
            </a:r>
            <a:r>
              <a:rPr lang="en-US" dirty="0"/>
              <a:t> (more 222 oriented planes in </a:t>
            </a:r>
            <a:r>
              <a:rPr lang="en-US" dirty="0">
                <a:solidFill>
                  <a:schemeClr val="bg2">
                    <a:lumMod val="50000"/>
                  </a:schemeClr>
                </a:solidFill>
              </a:rPr>
              <a:t>SJB3</a:t>
            </a:r>
            <a:r>
              <a:rPr lang="en-US" dirty="0"/>
              <a:t> sample).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836B614-E055-C095-3ABC-C339E65FD5AF}"/>
              </a:ext>
            </a:extLst>
          </p:cNvPr>
          <p:cNvSpPr txBox="1"/>
          <p:nvPr/>
        </p:nvSpPr>
        <p:spPr>
          <a:xfrm>
            <a:off x="10257183" y="2144373"/>
            <a:ext cx="112113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1100" dirty="0">
                <a:solidFill>
                  <a:schemeClr val="bg2">
                    <a:lumMod val="50000"/>
                  </a:schemeClr>
                </a:solidFill>
              </a:rPr>
              <a:t>SJB3</a:t>
            </a:r>
          </a:p>
          <a:p>
            <a:pPr marL="285750" indent="-285750">
              <a:buFontTx/>
              <a:buChar char="-"/>
            </a:pPr>
            <a:r>
              <a:rPr lang="en-US" sz="1100" dirty="0">
                <a:solidFill>
                  <a:srgbClr val="FF0000"/>
                </a:solidFill>
              </a:rPr>
              <a:t>SJC4</a:t>
            </a:r>
          </a:p>
        </p:txBody>
      </p:sp>
    </p:spTree>
    <p:extLst>
      <p:ext uri="{BB962C8B-B14F-4D97-AF65-F5344CB8AC3E}">
        <p14:creationId xmlns:p14="http://schemas.microsoft.com/office/powerpoint/2010/main" val="22254758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443B9A-ADDD-4D66-A1E7-A0D863F6D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237123" y="6537325"/>
            <a:ext cx="1341967" cy="320675"/>
          </a:xfrm>
        </p:spPr>
        <p:txBody>
          <a:bodyPr/>
          <a:lstStyle/>
          <a:p>
            <a:fld id="{AA65958E-49E9-4390-9F05-3DA96DF6A967}" type="slidenum">
              <a:rPr lang="en-US" altLang="en-US" smtClean="0">
                <a:solidFill>
                  <a:srgbClr val="FFFFFF"/>
                </a:solidFill>
              </a:rPr>
              <a:pPr/>
              <a:t>14</a:t>
            </a:fld>
            <a:endParaRPr lang="en-US" altLang="en-US" dirty="0">
              <a:solidFill>
                <a:srgbClr val="FFFFFF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7213AC8-8EC3-E2F4-36D4-69F5AA5E0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717" y="450782"/>
            <a:ext cx="6180547" cy="4153728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03DC2D6-185F-44EB-3506-CDF34129D532}"/>
              </a:ext>
            </a:extLst>
          </p:cNvPr>
          <p:cNvCxnSpPr/>
          <p:nvPr/>
        </p:nvCxnSpPr>
        <p:spPr bwMode="auto">
          <a:xfrm flipV="1">
            <a:off x="7176054" y="1488499"/>
            <a:ext cx="0" cy="116240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ECF9503-461C-70F9-C119-C3B623C12FBD}"/>
              </a:ext>
            </a:extLst>
          </p:cNvPr>
          <p:cNvSpPr txBox="1"/>
          <p:nvPr/>
        </p:nvSpPr>
        <p:spPr>
          <a:xfrm>
            <a:off x="6249731" y="2832309"/>
            <a:ext cx="185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Tilt at 0 degrees</a:t>
            </a:r>
            <a:endParaRPr lang="en-US" baseline="30000" dirty="0">
              <a:solidFill>
                <a:srgbClr val="FFC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AC9468-30A8-05E6-96FC-935A8640EA51}"/>
              </a:ext>
            </a:extLst>
          </p:cNvPr>
          <p:cNvSpPr txBox="1"/>
          <p:nvPr/>
        </p:nvSpPr>
        <p:spPr>
          <a:xfrm>
            <a:off x="6249731" y="1060108"/>
            <a:ext cx="2027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000"/>
                </a:solidFill>
              </a:rPr>
              <a:t>Tilt at 90 degrees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513CEFF-3526-47A5-23C4-567AC1186D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2717" y="4647105"/>
            <a:ext cx="6180548" cy="1829961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7C5EC02E-7ACA-1DF7-41DE-34A24CF26A60}"/>
              </a:ext>
            </a:extLst>
          </p:cNvPr>
          <p:cNvSpPr txBox="1"/>
          <p:nvPr/>
        </p:nvSpPr>
        <p:spPr>
          <a:xfrm>
            <a:off x="8539704" y="4727847"/>
            <a:ext cx="183674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FC000"/>
                </a:solidFill>
              </a:rPr>
              <a:t>Tilt at 0 degrees</a:t>
            </a:r>
            <a:endParaRPr lang="en-US" sz="1200" baseline="30000" dirty="0">
              <a:solidFill>
                <a:srgbClr val="FFC000"/>
              </a:solidFill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408D1FB-0B24-2C50-3A27-FE7A7A265957}"/>
              </a:ext>
            </a:extLst>
          </p:cNvPr>
          <p:cNvCxnSpPr/>
          <p:nvPr/>
        </p:nvCxnSpPr>
        <p:spPr bwMode="auto">
          <a:xfrm>
            <a:off x="9939130" y="4866346"/>
            <a:ext cx="723569" cy="0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FB94044-CD05-88A7-3FA6-4880DC13292F}"/>
              </a:ext>
            </a:extLst>
          </p:cNvPr>
          <p:cNvCxnSpPr>
            <a:stCxn id="12" idx="1"/>
          </p:cNvCxnSpPr>
          <p:nvPr/>
        </p:nvCxnSpPr>
        <p:spPr bwMode="auto">
          <a:xfrm flipH="1" flipV="1">
            <a:off x="7696862" y="4866346"/>
            <a:ext cx="842842" cy="1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CC63F130-664E-A0E0-3DE2-3DB37069869A}"/>
              </a:ext>
            </a:extLst>
          </p:cNvPr>
          <p:cNvSpPr txBox="1"/>
          <p:nvPr/>
        </p:nvSpPr>
        <p:spPr>
          <a:xfrm>
            <a:off x="6440556" y="4743236"/>
            <a:ext cx="1971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Tilt at 90 degrees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0A9067D-CBCF-343C-F3EC-F09DE6113053}"/>
              </a:ext>
            </a:extLst>
          </p:cNvPr>
          <p:cNvSpPr txBox="1"/>
          <p:nvPr/>
        </p:nvSpPr>
        <p:spPr>
          <a:xfrm>
            <a:off x="10789916" y="4735541"/>
            <a:ext cx="19719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C000"/>
                </a:solidFill>
              </a:rPr>
              <a:t>Tilt at 90 degrees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889CECA-F334-C03E-B26E-4399138CA3C2}"/>
              </a:ext>
            </a:extLst>
          </p:cNvPr>
          <p:cNvGrpSpPr/>
          <p:nvPr/>
        </p:nvGrpSpPr>
        <p:grpSpPr>
          <a:xfrm>
            <a:off x="731351" y="566754"/>
            <a:ext cx="2548582" cy="2432381"/>
            <a:chOff x="0" y="0"/>
            <a:chExt cx="2548582" cy="2432381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9297751-4EB4-CEC6-2F96-BFC633357465}"/>
                </a:ext>
              </a:extLst>
            </p:cNvPr>
            <p:cNvSpPr/>
            <p:nvPr/>
          </p:nvSpPr>
          <p:spPr>
            <a:xfrm>
              <a:off x="0" y="0"/>
              <a:ext cx="2548582" cy="151063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B9242A-18F5-CFFA-219C-E43851C05FAD}"/>
                </a:ext>
              </a:extLst>
            </p:cNvPr>
            <p:cNvSpPr txBox="1"/>
            <p:nvPr/>
          </p:nvSpPr>
          <p:spPr>
            <a:xfrm>
              <a:off x="0" y="921745"/>
              <a:ext cx="2548582" cy="15106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The (111) copper planes have a high intensity parallel to the surface of sample hence the bright red spot in the center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5DE8EA3-3E40-B0AF-E3AF-F0D17FD07A1A}"/>
              </a:ext>
            </a:extLst>
          </p:cNvPr>
          <p:cNvGrpSpPr/>
          <p:nvPr/>
        </p:nvGrpSpPr>
        <p:grpSpPr>
          <a:xfrm>
            <a:off x="731351" y="2077390"/>
            <a:ext cx="2548582" cy="1510636"/>
            <a:chOff x="0" y="1510636"/>
            <a:chExt cx="2548582" cy="1510636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26118E-4777-1E1B-DC9E-AE7A28B00AC7}"/>
                </a:ext>
              </a:extLst>
            </p:cNvPr>
            <p:cNvSpPr/>
            <p:nvPr/>
          </p:nvSpPr>
          <p:spPr>
            <a:xfrm>
              <a:off x="0" y="1510636"/>
              <a:ext cx="2548582" cy="151063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7AD3B12E-AEA8-93C3-DBC8-EF61BA159509}"/>
                </a:ext>
              </a:extLst>
            </p:cNvPr>
            <p:cNvSpPr txBox="1"/>
            <p:nvPr/>
          </p:nvSpPr>
          <p:spPr>
            <a:xfrm>
              <a:off x="0" y="1510636"/>
              <a:ext cx="2548582" cy="15106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1600" kern="1200" dirty="0"/>
            </a:p>
          </p:txBody>
        </p: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6AC5DEE-FAE9-F717-4CBE-5B63B93D0AB1}"/>
              </a:ext>
            </a:extLst>
          </p:cNvPr>
          <p:cNvGrpSpPr/>
          <p:nvPr/>
        </p:nvGrpSpPr>
        <p:grpSpPr>
          <a:xfrm>
            <a:off x="731351" y="4966430"/>
            <a:ext cx="2548582" cy="1510636"/>
            <a:chOff x="0" y="3021272"/>
            <a:chExt cx="2548582" cy="1510636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616A616A-49FB-E6E1-23BD-0AAB286DE486}"/>
                </a:ext>
              </a:extLst>
            </p:cNvPr>
            <p:cNvSpPr/>
            <p:nvPr/>
          </p:nvSpPr>
          <p:spPr>
            <a:xfrm>
              <a:off x="0" y="3021272"/>
              <a:ext cx="2548582" cy="1510636"/>
            </a:xfrm>
            <a:prstGeom prst="rect">
              <a:avLst/>
            </a:prstGeom>
          </p:spPr>
          <p:style>
            <a:lnRef idx="0">
              <a:schemeClr val="dk1">
                <a:alpha val="0"/>
                <a:hueOff val="0"/>
                <a:satOff val="0"/>
                <a:lumOff val="0"/>
                <a:alphaOff val="0"/>
              </a:schemeClr>
            </a:lnRef>
            <a:fillRef idx="0">
              <a:schemeClr val="lt1">
                <a:alpha val="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0"/>
                <a:hueOff val="0"/>
                <a:satOff val="0"/>
                <a:lumOff val="0"/>
                <a:alphaOff val="0"/>
              </a:schemeClr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F8D65293-142D-600A-79D4-EC629DFAB1E5}"/>
                </a:ext>
              </a:extLst>
            </p:cNvPr>
            <p:cNvSpPr txBox="1"/>
            <p:nvPr/>
          </p:nvSpPr>
          <p:spPr>
            <a:xfrm>
              <a:off x="0" y="3021272"/>
              <a:ext cx="2548582" cy="1510636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60960" tIns="60960" rIns="60960" bIns="60960" numCol="1" spcCol="1270" anchor="t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600" kern="1200" dirty="0"/>
                <a:t>Alpha graph shows the 111 planes are mostly oriented to the surface of the sample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49847050"/>
      </p:ext>
    </p:extLst>
  </p:cSld>
  <p:clrMapOvr>
    <a:masterClrMapping/>
  </p:clrMapOvr>
</p:sld>
</file>

<file path=ppt/theme/theme1.xml><?xml version="1.0" encoding="utf-8"?>
<a:theme xmlns:a="http://schemas.openxmlformats.org/drawingml/2006/main" name="5_Default Design">
  <a:themeElements>
    <a:clrScheme name="4_Default Design 2">
      <a:dk1>
        <a:srgbClr val="000000"/>
      </a:dk1>
      <a:lt1>
        <a:srgbClr val="FFFFFF"/>
      </a:lt1>
      <a:dk2>
        <a:srgbClr val="808080"/>
      </a:dk2>
      <a:lt2>
        <a:srgbClr val="CCCCFF"/>
      </a:lt2>
      <a:accent1>
        <a:srgbClr val="7889FB"/>
      </a:accent1>
      <a:accent2>
        <a:srgbClr val="2DB6B3"/>
      </a:accent2>
      <a:accent3>
        <a:srgbClr val="FFFFFF"/>
      </a:accent3>
      <a:accent4>
        <a:srgbClr val="000000"/>
      </a:accent4>
      <a:accent5>
        <a:srgbClr val="BEC4FD"/>
      </a:accent5>
      <a:accent6>
        <a:srgbClr val="28A5A2"/>
      </a:accent6>
      <a:hlink>
        <a:srgbClr val="C0C0C0"/>
      </a:hlink>
      <a:folHlink>
        <a:srgbClr val="D18213"/>
      </a:folHlink>
    </a:clrScheme>
    <a:fontScheme name="4_Default Design">
      <a:majorFont>
        <a:latin typeface="Arial"/>
        <a:ea typeface=""/>
        <a:cs typeface="Arial"/>
      </a:majorFont>
      <a:minorFont>
        <a:latin typeface="Arial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>
            <a:schemeClr val="accent2"/>
          </a:buClr>
          <a:buSzTx/>
          <a:buFont typeface="Wingdings" panose="05000000000000000000" pitchFamily="2" charset="2"/>
          <a:buNone/>
          <a:tabLst/>
          <a:defRPr kumimoji="0" lang="en-US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  <a:cs typeface="Arial" panose="020B0604020202020204" pitchFamily="34" charset="0"/>
          </a:defRPr>
        </a:defPPr>
      </a:lstStyle>
    </a:lnDef>
  </a:objectDefaults>
  <a:extraClrSchemeLst>
    <a:extraClrScheme>
      <a:clrScheme name="4_Default Design 1">
        <a:dk1>
          <a:srgbClr val="CCCCFF"/>
        </a:dk1>
        <a:lt1>
          <a:srgbClr val="FFFFFF"/>
        </a:lt1>
        <a:dk2>
          <a:srgbClr val="000000"/>
        </a:dk2>
        <a:lt2>
          <a:srgbClr val="808080"/>
        </a:lt2>
        <a:accent1>
          <a:srgbClr val="7889FB"/>
        </a:accent1>
        <a:accent2>
          <a:srgbClr val="2DB6B3"/>
        </a:accent2>
        <a:accent3>
          <a:srgbClr val="AAAAAA"/>
        </a:accent3>
        <a:accent4>
          <a:srgbClr val="DADADA"/>
        </a:accent4>
        <a:accent5>
          <a:srgbClr val="BEC4FD"/>
        </a:accent5>
        <a:accent6>
          <a:srgbClr val="28A5A2"/>
        </a:accent6>
        <a:hlink>
          <a:srgbClr val="C0C0C0"/>
        </a:hlink>
        <a:folHlink>
          <a:srgbClr val="D1821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Default Design 2">
        <a:dk1>
          <a:srgbClr val="000000"/>
        </a:dk1>
        <a:lt1>
          <a:srgbClr val="FFFFFF"/>
        </a:lt1>
        <a:dk2>
          <a:srgbClr val="808080"/>
        </a:dk2>
        <a:lt2>
          <a:srgbClr val="CCCCFF"/>
        </a:lt2>
        <a:accent1>
          <a:srgbClr val="7889FB"/>
        </a:accent1>
        <a:accent2>
          <a:srgbClr val="2DB6B3"/>
        </a:accent2>
        <a:accent3>
          <a:srgbClr val="FFFFFF"/>
        </a:accent3>
        <a:accent4>
          <a:srgbClr val="000000"/>
        </a:accent4>
        <a:accent5>
          <a:srgbClr val="BEC4FD"/>
        </a:accent5>
        <a:accent6>
          <a:srgbClr val="28A5A2"/>
        </a:accent6>
        <a:hlink>
          <a:srgbClr val="C0C0C0"/>
        </a:hlink>
        <a:folHlink>
          <a:srgbClr val="D1821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Default Design 3">
        <a:dk1>
          <a:srgbClr val="CCCCFF"/>
        </a:dk1>
        <a:lt1>
          <a:srgbClr val="FFFFFF"/>
        </a:lt1>
        <a:dk2>
          <a:srgbClr val="000000"/>
        </a:dk2>
        <a:lt2>
          <a:srgbClr val="808080"/>
        </a:lt2>
        <a:accent1>
          <a:srgbClr val="7889FB"/>
        </a:accent1>
        <a:accent2>
          <a:srgbClr val="DFFF66"/>
        </a:accent2>
        <a:accent3>
          <a:srgbClr val="AAAAAA"/>
        </a:accent3>
        <a:accent4>
          <a:srgbClr val="DADADA"/>
        </a:accent4>
        <a:accent5>
          <a:srgbClr val="BEC4FD"/>
        </a:accent5>
        <a:accent6>
          <a:srgbClr val="CAE75C"/>
        </a:accent6>
        <a:hlink>
          <a:srgbClr val="C0C0C0"/>
        </a:hlink>
        <a:folHlink>
          <a:srgbClr val="D18213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309</TotalTime>
  <Words>730</Words>
  <Application>Microsoft Macintosh PowerPoint</Application>
  <PresentationFormat>Widescreen</PresentationFormat>
  <Paragraphs>171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Cambria Math</vt:lpstr>
      <vt:lpstr>Wingdings</vt:lpstr>
      <vt:lpstr>5_Default Design</vt:lpstr>
      <vt:lpstr>Copper texture XRD Analysis SG-00005 6/7/23</vt:lpstr>
      <vt:lpstr>SG-00005</vt:lpstr>
      <vt:lpstr>Wafer ID: SJE4</vt:lpstr>
      <vt:lpstr>Wafer ID : SJD5</vt:lpstr>
      <vt:lpstr>Wafer ID: SJB3</vt:lpstr>
      <vt:lpstr>Wafer ID :SJC4</vt:lpstr>
      <vt:lpstr>SJB3 V SJD5</vt:lpstr>
      <vt:lpstr>SJC4 V SJD5</vt:lpstr>
      <vt:lpstr>SJB3 V SJE4</vt:lpstr>
      <vt:lpstr>SJC4 V SJE4</vt:lpstr>
      <vt:lpstr>Lotgering Factor</vt:lpstr>
      <vt:lpstr>Future Work</vt:lpstr>
      <vt:lpstr>SJC4 V SJB3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Advantage: High throughput screening of multiple parts</dc:title>
  <dc:creator>Edward Cropp</dc:creator>
  <cp:lastModifiedBy>TJ Avbovbo</cp:lastModifiedBy>
  <cp:revision>55</cp:revision>
  <dcterms:created xsi:type="dcterms:W3CDTF">2019-11-04T19:53:56Z</dcterms:created>
  <dcterms:modified xsi:type="dcterms:W3CDTF">2026-04-21T18:25:41Z</dcterms:modified>
</cp:coreProperties>
</file>